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71" r:id="rId4"/>
    <p:sldMasterId id="214748367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</p:sldIdLst>
  <p:sldSz cy="5143500" cx="9144000"/>
  <p:notesSz cx="6858000" cy="9144000"/>
  <p:embeddedFontLst>
    <p:embeddedFont>
      <p:font typeface="Quattrocento Sans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QuattrocentoSans-regular.fntdata"/><Relationship Id="rId10" Type="http://schemas.openxmlformats.org/officeDocument/2006/relationships/slide" Target="slides/slide4.xml"/><Relationship Id="rId13" Type="http://schemas.openxmlformats.org/officeDocument/2006/relationships/font" Target="fonts/QuattrocentoSans-italic.fntdata"/><Relationship Id="rId12" Type="http://schemas.openxmlformats.org/officeDocument/2006/relationships/font" Target="fonts/QuattrocentoSans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font" Target="fonts/QuattrocentoSans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8" name="Google Shape;138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54ebfd06a6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g54ebfd06a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re et contenu" type="obj">
  <p:cSld name="OBJEC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8" name="Google Shape;58;p14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4064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Diapositive de titre" type="title">
  <p:cSld name="TITLE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/>
          <a:lstStyle>
            <a:lvl1pPr lvl="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b="0" i="0" sz="6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4" name="Google Shape;64;p15"/>
          <p:cNvSpPr txBox="1"/>
          <p:nvPr>
            <p:ph idx="1" type="subTitle"/>
          </p:nvPr>
        </p:nvSpPr>
        <p:spPr>
          <a:xfrm>
            <a:off x="1143000" y="2701528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lvl="0" marR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re de section" type="secHead">
  <p:cSld name="SECTION_HEAD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623888" y="1282304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/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b="0" i="0" sz="6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>
            <a:off x="623888" y="3442098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Deux contenus" type="twoObj">
  <p:cSld name="TWO_OBJECTS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4064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7" name="Google Shape;77;p17"/>
          <p:cNvSpPr txBox="1"/>
          <p:nvPr>
            <p:ph idx="2" type="body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4064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8" name="Google Shape;78;p1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9" name="Google Shape;79;p1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0" name="Google Shape;80;p1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mparaison" type="twoTxTwoObj">
  <p:cSld name="TWO_OBJECTS_WITH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3" name="Google Shape;83;p18"/>
          <p:cNvSpPr txBox="1"/>
          <p:nvPr>
            <p:ph idx="1" type="body"/>
          </p:nvPr>
        </p:nvSpPr>
        <p:spPr>
          <a:xfrm>
            <a:off x="629842" y="1260872"/>
            <a:ext cx="38682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/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p18"/>
          <p:cNvSpPr txBox="1"/>
          <p:nvPr>
            <p:ph idx="2" type="body"/>
          </p:nvPr>
        </p:nvSpPr>
        <p:spPr>
          <a:xfrm>
            <a:off x="629842" y="1878806"/>
            <a:ext cx="38682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4064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18"/>
          <p:cNvSpPr txBox="1"/>
          <p:nvPr>
            <p:ph idx="3" type="body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/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6" name="Google Shape;86;p18"/>
          <p:cNvSpPr txBox="1"/>
          <p:nvPr>
            <p:ph idx="4" type="body"/>
          </p:nvPr>
        </p:nvSpPr>
        <p:spPr>
          <a:xfrm>
            <a:off x="4629150" y="1878806"/>
            <a:ext cx="38874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4064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p1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8" name="Google Shape;88;p1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9" name="Google Shape;89;p1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re seul" type="titleOnly">
  <p:cSld name="TITLE_ONLY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2" name="Google Shape;92;p1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3" name="Google Shape;93;p1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4" name="Google Shape;94;p1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Vide" type="blank">
  <p:cSld name="BLANK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ntenu avec légende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62984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/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4318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Image avec légende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62984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/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re et texte vertical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4064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re vertical et texte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4064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Blank">
  <p:cSld name="Main Blank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fr"/>
              <a:t>PROJET PERSONNALISÉ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fr"/>
              <a:t>ENCADRÉ</a:t>
            </a:r>
            <a:endParaRPr/>
          </a:p>
        </p:txBody>
      </p:sp>
      <p:sp>
        <p:nvSpPr>
          <p:cNvPr id="132" name="Google Shape;132;p2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fr" sz="1200"/>
              <a:t>GUEDON Gilles - CHEVAL Leopold - CASTANER Axel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fr" sz="2400"/>
              <a:t>BTS SIO - Option SISR - Promo 193</a:t>
            </a:r>
            <a:endParaRPr sz="2400"/>
          </a:p>
        </p:txBody>
      </p:sp>
      <p:sp>
        <p:nvSpPr>
          <p:cNvPr id="133" name="Google Shape;133;p26"/>
          <p:cNvSpPr/>
          <p:nvPr/>
        </p:nvSpPr>
        <p:spPr>
          <a:xfrm>
            <a:off x="-333550" y="1575"/>
            <a:ext cx="1113000" cy="733500"/>
          </a:xfrm>
          <a:prstGeom prst="diagStripe">
            <a:avLst>
              <a:gd fmla="val 50000" name="adj"/>
            </a:avLst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26"/>
          <p:cNvSpPr/>
          <p:nvPr/>
        </p:nvSpPr>
        <p:spPr>
          <a:xfrm>
            <a:off x="8525800" y="4768550"/>
            <a:ext cx="1113000" cy="733500"/>
          </a:xfrm>
          <a:prstGeom prst="diagStripe">
            <a:avLst>
              <a:gd fmla="val 50000" name="adj"/>
            </a:avLst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5" name="Google Shape;13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17019" y="4636474"/>
            <a:ext cx="857622" cy="5051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7"/>
          <p:cNvSpPr/>
          <p:nvPr/>
        </p:nvSpPr>
        <p:spPr>
          <a:xfrm rot="-5400000">
            <a:off x="2052950" y="-2518100"/>
            <a:ext cx="5050800" cy="9164400"/>
          </a:xfrm>
          <a:prstGeom prst="parallelogram">
            <a:avLst>
              <a:gd fmla="val 25000" name="adj"/>
            </a:avLst>
          </a:prstGeom>
          <a:solidFill>
            <a:srgbClr val="0070C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7"/>
          <p:cNvSpPr txBox="1"/>
          <p:nvPr>
            <p:ph type="title"/>
          </p:nvPr>
        </p:nvSpPr>
        <p:spPr>
          <a:xfrm>
            <a:off x="635000" y="283102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b="0" i="0" lang="fr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Contexte</a:t>
            </a:r>
            <a:endParaRPr b="0" i="0" sz="4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27"/>
          <p:cNvSpPr txBox="1"/>
          <p:nvPr>
            <p:ph idx="1" type="body"/>
          </p:nvPr>
        </p:nvSpPr>
        <p:spPr>
          <a:xfrm>
            <a:off x="495139" y="984804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6666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200">
                <a:solidFill>
                  <a:srgbClr val="F3F3F3"/>
                </a:solidFill>
                <a:latin typeface="Arial"/>
                <a:ea typeface="Arial"/>
                <a:cs typeface="Arial"/>
                <a:sym typeface="Arial"/>
              </a:rPr>
              <a:t>La société Komodo est une start-up qui est spécialisée dans la blockchain et des solutions d’IA</a:t>
            </a:r>
            <a:endParaRPr sz="1200">
              <a:solidFill>
                <a:srgbClr val="F3F3F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6666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200">
                <a:solidFill>
                  <a:srgbClr val="F3F3F3"/>
                </a:solidFill>
                <a:latin typeface="Arial"/>
                <a:ea typeface="Arial"/>
                <a:cs typeface="Arial"/>
                <a:sym typeface="Arial"/>
              </a:rPr>
              <a:t>orientées vers la finance. Elle compte 10 employés essentiellement spécialisés dans la finance.</a:t>
            </a:r>
            <a:endParaRPr sz="1200">
              <a:solidFill>
                <a:srgbClr val="F3F3F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6666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200">
                <a:solidFill>
                  <a:srgbClr val="F3F3F3"/>
                </a:solidFill>
                <a:latin typeface="Arial"/>
                <a:ea typeface="Arial"/>
                <a:cs typeface="Arial"/>
                <a:sym typeface="Arial"/>
              </a:rPr>
              <a:t>Ils sont répartis sur 3 pôles :</a:t>
            </a:r>
            <a:endParaRPr sz="1200">
              <a:solidFill>
                <a:srgbClr val="F3F3F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6666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200">
                <a:solidFill>
                  <a:srgbClr val="F3F3F3"/>
                </a:solidFill>
                <a:latin typeface="Arial"/>
                <a:ea typeface="Arial"/>
                <a:cs typeface="Arial"/>
                <a:sym typeface="Arial"/>
              </a:rPr>
              <a:t>- Direction (3 personnes)</a:t>
            </a:r>
            <a:endParaRPr sz="1200">
              <a:solidFill>
                <a:srgbClr val="F3F3F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6666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200">
                <a:solidFill>
                  <a:srgbClr val="F3F3F3"/>
                </a:solidFill>
                <a:latin typeface="Arial"/>
                <a:ea typeface="Arial"/>
                <a:cs typeface="Arial"/>
                <a:sym typeface="Arial"/>
              </a:rPr>
              <a:t>- Production (3 personnes)</a:t>
            </a:r>
            <a:endParaRPr sz="1200">
              <a:solidFill>
                <a:srgbClr val="F3F3F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6666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200">
                <a:solidFill>
                  <a:srgbClr val="F3F3F3"/>
                </a:solidFill>
                <a:latin typeface="Arial"/>
                <a:ea typeface="Arial"/>
                <a:cs typeface="Arial"/>
                <a:sym typeface="Arial"/>
              </a:rPr>
              <a:t>- Communication (4 personnes)</a:t>
            </a:r>
            <a:endParaRPr sz="1200">
              <a:solidFill>
                <a:srgbClr val="F3F3F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6666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200">
                <a:solidFill>
                  <a:srgbClr val="F3F3F3"/>
                </a:solidFill>
                <a:latin typeface="Arial"/>
                <a:ea typeface="Arial"/>
                <a:cs typeface="Arial"/>
                <a:sym typeface="Arial"/>
              </a:rPr>
              <a:t>La société cherche à mettre en place un système d’information.</a:t>
            </a:r>
            <a:endParaRPr sz="1200">
              <a:solidFill>
                <a:srgbClr val="F3F3F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6666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F3F3F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3" name="Google Shape;143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75650" y="4474648"/>
            <a:ext cx="1048713" cy="6189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8"/>
          <p:cNvSpPr/>
          <p:nvPr/>
        </p:nvSpPr>
        <p:spPr>
          <a:xfrm rot="-4531169">
            <a:off x="6599963" y="-4409192"/>
            <a:ext cx="1942405" cy="10039530"/>
          </a:xfrm>
          <a:prstGeom prst="parallelogram">
            <a:avLst>
              <a:gd fmla="val 25000" name="adj"/>
            </a:avLst>
          </a:prstGeom>
          <a:solidFill>
            <a:srgbClr val="0070C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28"/>
          <p:cNvSpPr/>
          <p:nvPr/>
        </p:nvSpPr>
        <p:spPr>
          <a:xfrm rot="-335073">
            <a:off x="-1402046" y="-3856108"/>
            <a:ext cx="8752040" cy="10039163"/>
          </a:xfrm>
          <a:prstGeom prst="parallelogram">
            <a:avLst>
              <a:gd fmla="val 25000" name="adj"/>
            </a:avLst>
          </a:prstGeom>
          <a:solidFill>
            <a:srgbClr val="0070C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28"/>
          <p:cNvSpPr txBox="1"/>
          <p:nvPr/>
        </p:nvSpPr>
        <p:spPr>
          <a:xfrm>
            <a:off x="6904825" y="135750"/>
            <a:ext cx="11631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fr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Situation </a:t>
            </a:r>
            <a:r>
              <a:rPr lang="fr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1" name="Google Shape;151;p28"/>
          <p:cNvCxnSpPr/>
          <p:nvPr/>
        </p:nvCxnSpPr>
        <p:spPr>
          <a:xfrm flipH="1" rot="10800000">
            <a:off x="6819625" y="516775"/>
            <a:ext cx="1333500" cy="1350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2" name="Google Shape;152;p28"/>
          <p:cNvSpPr txBox="1"/>
          <p:nvPr/>
        </p:nvSpPr>
        <p:spPr>
          <a:xfrm>
            <a:off x="95775" y="135750"/>
            <a:ext cx="5405700" cy="8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fr" sz="1100" u="none" cap="none" strike="noStrike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fr" sz="1200" u="none" cap="none" strike="noStrike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Le déploiement d’un Active Directory apporte à l’entreprise : agilité, flexibilité, cloisonnement.</a:t>
            </a:r>
            <a:endParaRPr b="1" i="0" sz="1200" u="none" cap="none" strike="noStrike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620" lvl="0" marL="7620" marR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F3F3F3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207645" rtl="0" algn="l">
              <a:lnSpc>
                <a:spcPct val="103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3F3F3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07916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fr" sz="1200" u="none" cap="none" strike="noStrike">
                <a:solidFill>
                  <a:srgbClr val="F3F3F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La finalité étant de créer des comptes utilisateurs, disposant de droits différents à travers l’utilisations de groupes :</a:t>
            </a:r>
            <a:endParaRPr b="0" i="0" sz="1200" u="none" cap="none" strike="noStrike">
              <a:solidFill>
                <a:srgbClr val="F3F3F3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304800" lvl="0" marL="457200" marR="0" rtl="0" algn="l">
              <a:lnSpc>
                <a:spcPct val="107916"/>
              </a:lnSpc>
              <a:spcBef>
                <a:spcPts val="665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Quattrocento Sans"/>
              <a:buChar char="-"/>
            </a:pPr>
            <a:r>
              <a:rPr b="0" i="0" lang="fr" sz="1200" u="none" cap="none" strike="noStrike">
                <a:solidFill>
                  <a:srgbClr val="F3F3F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Création de 10 utilisateurs</a:t>
            </a:r>
            <a:endParaRPr b="0" i="0" sz="1200" u="none" cap="none" strike="noStrike">
              <a:solidFill>
                <a:srgbClr val="F3F3F3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304800" lvl="0" marL="457200" marR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Quattrocento Sans"/>
              <a:buChar char="-"/>
            </a:pPr>
            <a:r>
              <a:rPr b="0" i="0" lang="fr" sz="1200" u="none" cap="none" strike="noStrike">
                <a:solidFill>
                  <a:srgbClr val="F3F3F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Création de 3 groupes</a:t>
            </a:r>
            <a:endParaRPr b="0" i="0" sz="1200" u="none" cap="none" strike="noStrike">
              <a:solidFill>
                <a:srgbClr val="F3F3F3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304800" lvl="0" marL="457200" marR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Quattrocento Sans"/>
              <a:buChar char="-"/>
            </a:pPr>
            <a:r>
              <a:rPr b="0" i="0" lang="fr" sz="1200" u="none" cap="none" strike="noStrike">
                <a:solidFill>
                  <a:srgbClr val="F3F3F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Limitation horaires pour les commerciaux (09h00 à 18h00)</a:t>
            </a:r>
            <a:endParaRPr b="0" i="0" sz="1200" u="none" cap="none" strike="noStrike">
              <a:solidFill>
                <a:srgbClr val="F3F3F3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07916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3F3F3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07916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fr" sz="1200" u="none" cap="none" strike="noStrike">
                <a:solidFill>
                  <a:srgbClr val="F3F3F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Pour les stratégies de groupes :</a:t>
            </a:r>
            <a:endParaRPr b="0" i="0" sz="1200" u="none" cap="none" strike="noStrike">
              <a:solidFill>
                <a:srgbClr val="F3F3F3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304800" lvl="0" marL="457200" marR="0" rtl="0" algn="l">
              <a:lnSpc>
                <a:spcPct val="107916"/>
              </a:lnSpc>
              <a:spcBef>
                <a:spcPts val="665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Quattrocento Sans"/>
              <a:buChar char="-"/>
            </a:pPr>
            <a:r>
              <a:rPr b="0" i="0" lang="fr" sz="1200" u="none" cap="none" strike="noStrike">
                <a:solidFill>
                  <a:srgbClr val="F3F3F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Changement de mots de passe tous les 3 mois</a:t>
            </a:r>
            <a:endParaRPr b="0" i="0" sz="1200" u="none" cap="none" strike="noStrike">
              <a:solidFill>
                <a:srgbClr val="F3F3F3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304800" lvl="0" marL="457200" marR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Quattrocento Sans"/>
              <a:buChar char="-"/>
            </a:pPr>
            <a:r>
              <a:rPr b="0" i="0" lang="fr" sz="1200" u="none" cap="none" strike="noStrike">
                <a:solidFill>
                  <a:srgbClr val="F3F3F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Désactivation du panneau de configuration</a:t>
            </a:r>
            <a:endParaRPr b="0" i="0" sz="1200" u="none" cap="none" strike="noStrike">
              <a:solidFill>
                <a:srgbClr val="F3F3F3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304800" lvl="0" marL="457200" marR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Quattrocento Sans"/>
              <a:buChar char="-"/>
            </a:pPr>
            <a:r>
              <a:rPr b="0" i="0" lang="fr" sz="1200" u="none" cap="none" strike="noStrike">
                <a:solidFill>
                  <a:srgbClr val="F3F3F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Déconnexion forcée si l’utilisateur se connecte en dehors de ses horaires</a:t>
            </a:r>
            <a:endParaRPr b="1" i="0" sz="1200" u="none" cap="none" strike="noStrike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8"/>
          <p:cNvSpPr txBox="1"/>
          <p:nvPr/>
        </p:nvSpPr>
        <p:spPr>
          <a:xfrm>
            <a:off x="6797325" y="492025"/>
            <a:ext cx="3297000" cy="3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fr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Stratégies de groupe</a:t>
            </a:r>
            <a:endParaRPr b="1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4" name="Google Shape;154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17019" y="4636474"/>
            <a:ext cx="857622" cy="5051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9"/>
          <p:cNvSpPr/>
          <p:nvPr/>
        </p:nvSpPr>
        <p:spPr>
          <a:xfrm rot="-4531169">
            <a:off x="6599963" y="-4180592"/>
            <a:ext cx="1942405" cy="10039530"/>
          </a:xfrm>
          <a:prstGeom prst="parallelogram">
            <a:avLst>
              <a:gd fmla="val 25000" name="adj"/>
            </a:avLst>
          </a:prstGeom>
          <a:solidFill>
            <a:srgbClr val="0070C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29"/>
          <p:cNvSpPr/>
          <p:nvPr/>
        </p:nvSpPr>
        <p:spPr>
          <a:xfrm rot="-335073">
            <a:off x="-1402119" y="-3856101"/>
            <a:ext cx="8752040" cy="10039134"/>
          </a:xfrm>
          <a:prstGeom prst="parallelogram">
            <a:avLst>
              <a:gd fmla="val 25000" name="adj"/>
            </a:avLst>
          </a:prstGeom>
          <a:solidFill>
            <a:srgbClr val="0070C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9"/>
          <p:cNvSpPr txBox="1"/>
          <p:nvPr/>
        </p:nvSpPr>
        <p:spPr>
          <a:xfrm>
            <a:off x="6904825" y="364350"/>
            <a:ext cx="11631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fr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Situation </a:t>
            </a:r>
            <a:r>
              <a:rPr lang="fr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2" name="Google Shape;162;p29"/>
          <p:cNvCxnSpPr/>
          <p:nvPr/>
        </p:nvCxnSpPr>
        <p:spPr>
          <a:xfrm flipH="1" rot="10800000">
            <a:off x="6819625" y="745375"/>
            <a:ext cx="1333500" cy="1350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3" name="Google Shape;163;p29"/>
          <p:cNvSpPr txBox="1"/>
          <p:nvPr/>
        </p:nvSpPr>
        <p:spPr>
          <a:xfrm>
            <a:off x="95775" y="135750"/>
            <a:ext cx="5405700" cy="8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120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Le déploiement d’un serveur RDS apporte à l’entreprise : traçabilité, sécurité,souplesse.</a:t>
            </a:r>
            <a:endParaRPr b="1" i="0" sz="1200" u="none" cap="none" strike="noStrike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620" lvl="0" marL="7620" marR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F3F3F3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207645" rtl="0" algn="l">
              <a:lnSpc>
                <a:spcPct val="103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3F3F3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457200" marR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F3F3F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La finalité étant de mettre une place une architecture RDS afin d’utiliser cet environnement pour administrer l’ensemble du système</a:t>
            </a:r>
            <a:r>
              <a:rPr lang="fr" sz="1200">
                <a:solidFill>
                  <a:srgbClr val="F3F3F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d</a:t>
            </a:r>
            <a:r>
              <a:rPr lang="fr" sz="1200">
                <a:solidFill>
                  <a:srgbClr val="F3F3F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’informations, ainsi que la mise à disposition d’applications bureautique pour les utilisateurs, permettant une centralisation des données.</a:t>
            </a:r>
            <a:endParaRPr sz="1200">
              <a:solidFill>
                <a:srgbClr val="F3F3F3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07916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3F3F3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457200" marR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F3F3F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La mise en place du rôle RDS sous IIS permettra aux utilisateurs d’utiliser </a:t>
            </a:r>
            <a:r>
              <a:rPr lang="fr" sz="1200">
                <a:solidFill>
                  <a:srgbClr val="F3F3F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depuis un client léger :</a:t>
            </a:r>
            <a:endParaRPr sz="1200">
              <a:solidFill>
                <a:srgbClr val="F3F3F3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457200" marR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F3F3F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-</a:t>
            </a:r>
            <a:r>
              <a:rPr lang="fr" sz="1200">
                <a:solidFill>
                  <a:srgbClr val="F3F3F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Wordpad</a:t>
            </a:r>
            <a:endParaRPr sz="1200">
              <a:solidFill>
                <a:srgbClr val="F3F3F3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457200" marR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F3F3F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- Paint</a:t>
            </a:r>
            <a:endParaRPr sz="1200">
              <a:solidFill>
                <a:srgbClr val="F3F3F3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457200" marR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200">
                <a:solidFill>
                  <a:srgbClr val="F3F3F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ce qui fournira à l’entreprise la possibilité de réduire les coûts et</a:t>
            </a:r>
            <a:endParaRPr sz="1200">
              <a:solidFill>
                <a:srgbClr val="F3F3F3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457200" marR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F3F3F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d’optimiser les ressources.</a:t>
            </a:r>
            <a:endParaRPr sz="1200">
              <a:solidFill>
                <a:srgbClr val="F3F3F3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9"/>
          <p:cNvSpPr txBox="1"/>
          <p:nvPr/>
        </p:nvSpPr>
        <p:spPr>
          <a:xfrm>
            <a:off x="6797325" y="720625"/>
            <a:ext cx="3297000" cy="3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fr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Remote Desktop Services</a:t>
            </a:r>
            <a:endParaRPr b="1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5" name="Google Shape;16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17019" y="4636474"/>
            <a:ext cx="857622" cy="5051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hème Office">
  <a:themeElements>
    <a:clrScheme name="Thèm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